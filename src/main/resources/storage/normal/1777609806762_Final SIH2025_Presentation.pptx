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94" r:id="rId7"/>
    <p:sldId id="262" r:id="rId8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10"/>
    </p:embeddedFont>
    <p:embeddedFont>
      <p:font typeface="Arial Rounded MT Bold" panose="020F0704030504030204" pitchFamily="34" charset="0"/>
      <p:regular r:id="rId11"/>
    </p:embeddedFont>
    <p:embeddedFont>
      <p:font typeface="Garamond" panose="02020404030301010803" pitchFamily="18" charset="0"/>
      <p:regular r:id="rId12"/>
      <p:bold r:id="rId13"/>
      <p:italic r:id="rId14"/>
      <p:boldItalic r:id="rId15"/>
    </p:embeddedFont>
    <p:embeddedFont>
      <p:font typeface="Oswald" panose="00000500000000000000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CZkpQeULG738cMc0+VYgTHiml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988B"/>
    <a:srgbClr val="1C36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a1dbeac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g37a1dbeac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mohua.gov.in/upload/uploadfiles/files/Report%203%20Operations%20and%20Maintenance%20systems.pdf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en.wikipedia.org/wiki/Kochi_Metro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ochimetro.org/" TargetMode="External"/><Relationship Id="rId5" Type="http://schemas.openxmlformats.org/officeDocument/2006/relationships/hyperlink" Target="https://github.com/hydrolox-0/sih2025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4541744" y="725774"/>
            <a:ext cx="6233012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50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7511989" y="2130619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2288475" y="-163390"/>
            <a:ext cx="7363200" cy="16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2025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29188" y="1575916"/>
            <a:ext cx="592470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</a:t>
            </a:r>
            <a:r>
              <a:rPr lang="en-US" sz="2400" b="1" dirty="0">
                <a:solidFill>
                  <a:schemeClr val="dk1"/>
                </a:solidFill>
              </a:rPr>
              <a:t>- </a:t>
            </a:r>
            <a:r>
              <a:rPr lang="en-US" sz="240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25081</a:t>
            </a:r>
            <a:endParaRPr sz="140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AI-Driven Train Induction Planning &amp; Scheduling for Kochi Metro Rail Limited.</a:t>
            </a:r>
            <a:endParaRPr lang="en-US" sz="1400" b="0" i="1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lang="en-US" sz="240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  <a:endParaRPr sz="140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lang="en-US" sz="240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sz="140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lang="en-US" sz="2400" b="1" dirty="0">
                <a:solidFill>
                  <a:schemeClr val="dk1"/>
                </a:solidFill>
              </a:rPr>
              <a:t> - </a:t>
            </a:r>
            <a:r>
              <a:rPr lang="en-US" sz="2400" i="1" dirty="0" err="1">
                <a:solidFill>
                  <a:schemeClr val="dk1"/>
                </a:solidFill>
              </a:rPr>
              <a:t>MetroNova</a:t>
            </a:r>
            <a:endParaRPr sz="240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 title="Group 3015079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2675"/>
            <a:ext cx="2186249" cy="5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 title="Group 301578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58400" y="168162"/>
            <a:ext cx="1926600" cy="97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a1dbeac50_0_0"/>
          <p:cNvSpPr txBox="1">
            <a:spLocks noGrp="1"/>
          </p:cNvSpPr>
          <p:nvPr>
            <p:ph type="subTitle" idx="1"/>
          </p:nvPr>
        </p:nvSpPr>
        <p:spPr>
          <a:xfrm>
            <a:off x="1524000" y="534841"/>
            <a:ext cx="85344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45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sz="4500"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g37a1dbeac50_0_0" title="Group 3015079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675"/>
            <a:ext cx="2186249" cy="5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7a1dbeac50_0_0" title="Group 301578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8400" y="168162"/>
            <a:ext cx="1926600" cy="975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7a1dbeac50_0_0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2</a:t>
            </a:fld>
            <a:endParaRPr sz="1200" b="1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804A12-8925-D9EE-3662-A749BA6ED11E}"/>
              </a:ext>
            </a:extLst>
          </p:cNvPr>
          <p:cNvSpPr txBox="1"/>
          <p:nvPr/>
        </p:nvSpPr>
        <p:spPr>
          <a:xfrm>
            <a:off x="485775" y="1914044"/>
            <a:ext cx="112966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1" dirty="0"/>
              <a:t>SWASTIKA CHATTERJEE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1" dirty="0"/>
              <a:t>DEVANSHU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1" dirty="0"/>
              <a:t>MD JISHAN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1" dirty="0"/>
              <a:t>RITIK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1" dirty="0"/>
              <a:t>KARTIKEY TIWARI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1" dirty="0"/>
              <a:t>GAURAV KUMAR PANDEY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38FBD-931F-8DE5-BC50-D11B5B938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713" y="807239"/>
            <a:ext cx="6960872" cy="5495425"/>
          </a:xfrm>
          <a:prstGeom prst="rect">
            <a:avLst/>
          </a:prstGeom>
        </p:spPr>
      </p:pic>
      <p:sp>
        <p:nvSpPr>
          <p:cNvPr id="110" name="Google Shape;11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>
            <a:spLocks noGrp="1"/>
          </p:cNvSpPr>
          <p:nvPr>
            <p:ph type="title"/>
          </p:nvPr>
        </p:nvSpPr>
        <p:spPr>
          <a:xfrm>
            <a:off x="202048" y="0"/>
            <a:ext cx="10972800" cy="639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en-US" sz="4000" b="1" dirty="0">
                <a:solidFill>
                  <a:schemeClr val="dk2"/>
                </a:solidFill>
                <a:latin typeface="Times New Roman"/>
                <a:ea typeface="Arial"/>
                <a:cs typeface="Times New Roman"/>
                <a:sym typeface="Times New Roman"/>
              </a:rPr>
            </a:br>
            <a:r>
              <a:rPr lang="en-US" sz="4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4000" b="1" u="sng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r>
              <a:rPr lang="en-US" sz="4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4000" dirty="0"/>
          </a:p>
        </p:txBody>
      </p:sp>
      <p:sp>
        <p:nvSpPr>
          <p:cNvPr id="112" name="Google Shape;112;p2"/>
          <p:cNvSpPr txBox="1"/>
          <p:nvPr/>
        </p:nvSpPr>
        <p:spPr>
          <a:xfrm>
            <a:off x="204073" y="820700"/>
            <a:ext cx="5770125" cy="564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900" b="1" u="sng" dirty="0"/>
              <a:t>Proposed Solution</a:t>
            </a:r>
          </a:p>
          <a:p>
            <a:r>
              <a:rPr lang="en-US" sz="1900" dirty="0"/>
              <a:t>An end-to-end system that collects data (IBM Maximo, IoT, manual), processes it via </a:t>
            </a:r>
          </a:p>
          <a:p>
            <a:r>
              <a:rPr lang="en-US" sz="1900" dirty="0"/>
              <a:t>validation, ML optimization, and delivers </a:t>
            </a:r>
          </a:p>
          <a:p>
            <a:r>
              <a:rPr lang="en-US" sz="1900" dirty="0"/>
              <a:t>real-time insights through APIs, web/mobile dashboards and reports.</a:t>
            </a:r>
          </a:p>
          <a:p>
            <a:endParaRPr lang="en-US" sz="1900" b="1" dirty="0"/>
          </a:p>
          <a:p>
            <a:r>
              <a:rPr lang="en-US" sz="1900" b="1" u="sng" dirty="0"/>
              <a:t>How It Solves the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Unifies scattered data into one pipeline.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Ensures accuracy and consistency.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Provides intelligent, real-time decision support.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Makes insights easily accessible to all operators.</a:t>
            </a:r>
          </a:p>
          <a:p>
            <a:endParaRPr lang="en-US" sz="1900" b="1" dirty="0"/>
          </a:p>
          <a:p>
            <a:r>
              <a:rPr lang="en-US" sz="1900" b="1" u="sng" dirty="0"/>
              <a:t>Innovation &amp; Uniqueness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Hybrid integration of enterprise, IoT, and manual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Dual intelligence: ML + optimization.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Flexible APIs (REST, WebSocket).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Multi-platform, scalable, and future-ready.</a:t>
            </a:r>
          </a:p>
        </p:txBody>
      </p:sp>
      <p:sp>
        <p:nvSpPr>
          <p:cNvPr id="113" name="Google Shape;113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 dirty="0">
              <a:solidFill>
                <a:schemeClr val="lt1"/>
              </a:solidFill>
            </a:endParaRPr>
          </a:p>
        </p:txBody>
      </p:sp>
      <p:pic>
        <p:nvPicPr>
          <p:cNvPr id="114" name="Google Shape;114;p2" title="Group 3015079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000" y="219575"/>
            <a:ext cx="2186249" cy="5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 title="Group 301578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58400" y="168162"/>
            <a:ext cx="1926600" cy="97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97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dirty="0"/>
          </a:p>
        </p:txBody>
      </p:sp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25" name="Google Shape;125;p3" title="Group 3015079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675"/>
            <a:ext cx="2186249" cy="5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 title="Group 301578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8400" y="168162"/>
            <a:ext cx="1926600" cy="975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8C27FB-8E4C-4F9D-3217-E4331FCED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100" y="655924"/>
            <a:ext cx="7780700" cy="57190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dirty="0"/>
          </a:p>
        </p:txBody>
      </p:sp>
      <p:sp>
        <p:nvSpPr>
          <p:cNvPr id="135" name="Google Shape;135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6" name="Google Shape;136;p4" title="Group 3015079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675"/>
            <a:ext cx="2186249" cy="5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 title="Group 301578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8400" y="168162"/>
            <a:ext cx="1926600" cy="975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D55F097-0C39-A5EC-73D1-2D7CF3A58E4F}"/>
              </a:ext>
            </a:extLst>
          </p:cNvPr>
          <p:cNvGrpSpPr/>
          <p:nvPr/>
        </p:nvGrpSpPr>
        <p:grpSpPr>
          <a:xfrm>
            <a:off x="276450" y="1499886"/>
            <a:ext cx="11565387" cy="3938889"/>
            <a:chOff x="276450" y="1499886"/>
            <a:chExt cx="11565387" cy="393888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2D0F3D9-CB28-9724-0C14-68D84657F80D}"/>
                </a:ext>
              </a:extLst>
            </p:cNvPr>
            <p:cNvGrpSpPr/>
            <p:nvPr/>
          </p:nvGrpSpPr>
          <p:grpSpPr>
            <a:xfrm>
              <a:off x="276450" y="1499887"/>
              <a:ext cx="3751042" cy="3938888"/>
              <a:chOff x="276450" y="1499887"/>
              <a:chExt cx="3751042" cy="393888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13604CAA-9F8C-034B-9D5A-49826BAF438C}"/>
                  </a:ext>
                </a:extLst>
              </p:cNvPr>
              <p:cNvGrpSpPr/>
              <p:nvPr/>
            </p:nvGrpSpPr>
            <p:grpSpPr>
              <a:xfrm>
                <a:off x="339412" y="1499887"/>
                <a:ext cx="3688080" cy="3938888"/>
                <a:chOff x="339412" y="1499887"/>
                <a:chExt cx="3688080" cy="3938888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42DD577E-3CF2-A6C1-4203-1C9FB1927738}"/>
                    </a:ext>
                  </a:extLst>
                </p:cNvPr>
                <p:cNvSpPr/>
                <p:nvPr/>
              </p:nvSpPr>
              <p:spPr>
                <a:xfrm>
                  <a:off x="339412" y="1499887"/>
                  <a:ext cx="3688080" cy="3938888"/>
                </a:xfrm>
                <a:prstGeom prst="rect">
                  <a:avLst/>
                </a:prstGeom>
                <a:solidFill>
                  <a:srgbClr val="1C364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endParaRPr lang="en-US" b="1" dirty="0">
                    <a:solidFill>
                      <a:srgbClr val="CAD6DE"/>
                    </a:solidFill>
                  </a:endParaRPr>
                </a:p>
                <a:p>
                  <a:endParaRPr lang="en-US" b="1" dirty="0">
                    <a:solidFill>
                      <a:srgbClr val="CAD6DE"/>
                    </a:solidFill>
                  </a:endParaRPr>
                </a:p>
                <a:p>
                  <a:endParaRPr lang="en-US" sz="2000" b="1" dirty="0">
                    <a:solidFill>
                      <a:srgbClr val="CAD6DE"/>
                    </a:solidFill>
                  </a:endParaRPr>
                </a:p>
                <a:p>
                  <a:endParaRPr lang="en-US" sz="2000" b="1" dirty="0">
                    <a:solidFill>
                      <a:srgbClr val="CAD6DE"/>
                    </a:solidFill>
                    <a:latin typeface="Arial Rounded MT Bold" panose="020F0704030504030204" pitchFamily="34" charset="0"/>
                  </a:endParaRPr>
                </a:p>
                <a:p>
                  <a:r>
                    <a:rPr lang="en-US" sz="2000" b="1" dirty="0">
                      <a:solidFill>
                        <a:srgbClr val="CAD6DE"/>
                      </a:solidFill>
                      <a:latin typeface="Arial Rounded MT Bold" panose="020F0704030504030204" pitchFamily="34" charset="0"/>
                    </a:rPr>
                    <a:t>Technical Feasibility</a:t>
                  </a:r>
                </a:p>
                <a:p>
                  <a:endParaRPr lang="en-US" sz="1100" dirty="0">
                    <a:solidFill>
                      <a:srgbClr val="CAD6DE"/>
                    </a:solidFill>
                    <a:latin typeface="Arial Rounded MT Bold" panose="020F0704030504030204" pitchFamily="34" charset="0"/>
                  </a:endParaRPr>
                </a:p>
                <a:p>
                  <a:r>
                    <a:rPr lang="en-US" sz="2000" dirty="0">
                      <a:solidFill>
                        <a:srgbClr val="CAD6DE"/>
                      </a:solidFill>
                      <a:latin typeface="Arial Rounded MT Bold" panose="020F0704030504030204" pitchFamily="34" charset="0"/>
                    </a:rPr>
                    <a:t>The proposed AI and optimization technologies are mature and widely applied in logistics and resource management. Our modular approach ensures integration with existing KMRL systems.</a:t>
                  </a:r>
                </a:p>
                <a:p>
                  <a:pPr algn="ctr"/>
                  <a:endParaRPr lang="en-IN" dirty="0"/>
                </a:p>
              </p:txBody>
            </p: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83532988-678D-0251-F1D3-39E110047298}"/>
                    </a:ext>
                  </a:extLst>
                </p:cNvPr>
                <p:cNvGrpSpPr/>
                <p:nvPr/>
              </p:nvGrpSpPr>
              <p:grpSpPr>
                <a:xfrm>
                  <a:off x="490170" y="1571516"/>
                  <a:ext cx="669216" cy="630936"/>
                  <a:chOff x="609600" y="2240280"/>
                  <a:chExt cx="816864" cy="813816"/>
                </a:xfrm>
              </p:grpSpPr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1DE6900E-C383-654A-78EF-4D15D423556C}"/>
                      </a:ext>
                    </a:extLst>
                  </p:cNvPr>
                  <p:cNvSpPr/>
                  <p:nvPr/>
                </p:nvSpPr>
                <p:spPr>
                  <a:xfrm>
                    <a:off x="609600" y="2240280"/>
                    <a:ext cx="816864" cy="813816"/>
                  </a:xfrm>
                  <a:prstGeom prst="ellipse">
                    <a:avLst/>
                  </a:prstGeom>
                  <a:solidFill>
                    <a:srgbClr val="0A988B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pic>
                <p:nvPicPr>
                  <p:cNvPr id="22" name="Picture 21" descr="A white line with dots on a black background&#10;&#10;AI-generated content may be incorrect.">
                    <a:extLst>
                      <a:ext uri="{FF2B5EF4-FFF2-40B4-BE49-F238E27FC236}">
                        <a16:creationId xmlns:a16="http://schemas.microsoft.com/office/drawing/2014/main" id="{69E15C77-669A-61F9-DBF1-05893247CF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02198" y="2375369"/>
                    <a:ext cx="576620" cy="576619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7B7443FB-016D-0593-3A6B-B9C40AE6310A}"/>
                  </a:ext>
                </a:extLst>
              </p:cNvPr>
              <p:cNvSpPr/>
              <p:nvPr/>
            </p:nvSpPr>
            <p:spPr>
              <a:xfrm>
                <a:off x="276450" y="1499887"/>
                <a:ext cx="62961" cy="3938888"/>
              </a:xfrm>
              <a:prstGeom prst="roundRect">
                <a:avLst/>
              </a:prstGeom>
              <a:solidFill>
                <a:srgbClr val="0A988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9D5BD0C-62DD-A16A-6604-B3545D086F7D}"/>
                </a:ext>
              </a:extLst>
            </p:cNvPr>
            <p:cNvGrpSpPr/>
            <p:nvPr/>
          </p:nvGrpSpPr>
          <p:grpSpPr>
            <a:xfrm>
              <a:off x="4191225" y="1499887"/>
              <a:ext cx="3748813" cy="3938888"/>
              <a:chOff x="4191225" y="1499887"/>
              <a:chExt cx="3748813" cy="393888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0FBA393-12D3-680A-37FA-28EA05225238}"/>
                  </a:ext>
                </a:extLst>
              </p:cNvPr>
              <p:cNvGrpSpPr/>
              <p:nvPr/>
            </p:nvGrpSpPr>
            <p:grpSpPr>
              <a:xfrm>
                <a:off x="4251958" y="1499887"/>
                <a:ext cx="3688080" cy="3938888"/>
                <a:chOff x="4251958" y="1499887"/>
                <a:chExt cx="3688080" cy="3938888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92FC719-C28C-9F79-3587-0AA152F1DDB9}"/>
                    </a:ext>
                  </a:extLst>
                </p:cNvPr>
                <p:cNvSpPr/>
                <p:nvPr/>
              </p:nvSpPr>
              <p:spPr>
                <a:xfrm>
                  <a:off x="4251958" y="1499887"/>
                  <a:ext cx="3688080" cy="3938888"/>
                </a:xfrm>
                <a:prstGeom prst="rect">
                  <a:avLst/>
                </a:prstGeom>
                <a:solidFill>
                  <a:srgbClr val="1C364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endParaRPr lang="en-US" sz="2000" b="1" dirty="0">
                    <a:solidFill>
                      <a:srgbClr val="CAD6DE"/>
                    </a:solidFill>
                  </a:endParaRPr>
                </a:p>
                <a:p>
                  <a:endParaRPr lang="en-US" sz="2000" b="1" dirty="0">
                    <a:solidFill>
                      <a:srgbClr val="CAD6DE"/>
                    </a:solidFill>
                  </a:endParaRPr>
                </a:p>
                <a:p>
                  <a:endParaRPr lang="en-US" sz="2000" b="1" dirty="0">
                    <a:solidFill>
                      <a:srgbClr val="CAD6DE"/>
                    </a:solidFill>
                    <a:latin typeface="Arial Rounded MT Bold" panose="020F0704030504030204" pitchFamily="34" charset="0"/>
                  </a:endParaRPr>
                </a:p>
                <a:p>
                  <a:r>
                    <a:rPr lang="en-US" sz="2000" b="1" dirty="0">
                      <a:solidFill>
                        <a:srgbClr val="CAD6DE"/>
                      </a:solidFill>
                      <a:latin typeface="Arial Rounded MT Bold" panose="020F0704030504030204" pitchFamily="34" charset="0"/>
                    </a:rPr>
                    <a:t>Risk Mitigation</a:t>
                  </a:r>
                </a:p>
                <a:p>
                  <a:endParaRPr lang="en-US" sz="1100" b="1" dirty="0">
                    <a:solidFill>
                      <a:srgbClr val="CAD6DE"/>
                    </a:solidFill>
                    <a:latin typeface="Arial Rounded MT Bold" panose="020F0704030504030204" pitchFamily="34" charset="0"/>
                  </a:endParaRPr>
                </a:p>
                <a:p>
                  <a:r>
                    <a:rPr lang="en-US" sz="2000" b="1" dirty="0">
                      <a:solidFill>
                        <a:srgbClr val="CAD6DE"/>
                      </a:solidFill>
                      <a:latin typeface="Arial Rounded MT Bold" panose="020F0704030504030204" pitchFamily="34" charset="0"/>
                    </a:rPr>
                    <a:t>Data Quality:</a:t>
                  </a:r>
                  <a:r>
                    <a:rPr lang="en-US" sz="2000" dirty="0">
                      <a:solidFill>
                        <a:srgbClr val="CAD6DE"/>
                      </a:solidFill>
                      <a:latin typeface="Arial Rounded MT Bold" panose="020F0704030504030204" pitchFamily="34" charset="0"/>
                    </a:rPr>
                    <a:t> Implement robust data validation. </a:t>
                  </a:r>
                </a:p>
                <a:p>
                  <a:r>
                    <a:rPr lang="en-US" sz="2000" b="1" dirty="0">
                      <a:solidFill>
                        <a:srgbClr val="CAD6DE"/>
                      </a:solidFill>
                      <a:latin typeface="Arial Rounded MT Bold" panose="020F0704030504030204" pitchFamily="34" charset="0"/>
                    </a:rPr>
                    <a:t>System Integration:</a:t>
                  </a:r>
                  <a:r>
                    <a:rPr lang="en-US" sz="2000" dirty="0">
                      <a:solidFill>
                        <a:srgbClr val="CAD6DE"/>
                      </a:solidFill>
                      <a:latin typeface="Arial Rounded MT Bold" panose="020F0704030504030204" pitchFamily="34" charset="0"/>
                    </a:rPr>
                    <a:t> Phased deployment with API-first design. </a:t>
                  </a:r>
                </a:p>
                <a:p>
                  <a:r>
                    <a:rPr lang="en-US" sz="2000" b="1" dirty="0">
                      <a:solidFill>
                        <a:srgbClr val="CAD6DE"/>
                      </a:solidFill>
                      <a:latin typeface="Arial Rounded MT Bold" panose="020F0704030504030204" pitchFamily="34" charset="0"/>
                    </a:rPr>
                    <a:t>User Adoption:</a:t>
                  </a:r>
                  <a:r>
                    <a:rPr lang="en-US" sz="2000" dirty="0">
                      <a:solidFill>
                        <a:srgbClr val="CAD6DE"/>
                      </a:solidFill>
                      <a:latin typeface="Arial Rounded MT Bold" panose="020F0704030504030204" pitchFamily="34" charset="0"/>
                    </a:rPr>
                    <a:t> Comprehensive training and intuitive UI.</a:t>
                  </a:r>
                </a:p>
                <a:p>
                  <a:pPr algn="ctr"/>
                  <a:endParaRPr lang="en-IN" dirty="0"/>
                </a:p>
              </p:txBody>
            </p:sp>
            <p:sp>
              <p:nvSpPr>
                <p:cNvPr id="16" name="AutoShape 2" descr="Image search result">
                  <a:extLst>
                    <a:ext uri="{FF2B5EF4-FFF2-40B4-BE49-F238E27FC236}">
                      <a16:creationId xmlns:a16="http://schemas.microsoft.com/office/drawing/2014/main" id="{643A4D36-555E-3688-E299-2E2C3A7D386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849469" y="2709944"/>
                  <a:ext cx="304800" cy="304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6CCAD6F7-F992-6478-015A-46BC4B961976}"/>
                    </a:ext>
                  </a:extLst>
                </p:cNvPr>
                <p:cNvSpPr/>
                <p:nvPr/>
              </p:nvSpPr>
              <p:spPr>
                <a:xfrm>
                  <a:off x="4397640" y="1571516"/>
                  <a:ext cx="657103" cy="630936"/>
                </a:xfrm>
                <a:prstGeom prst="ellipse">
                  <a:avLst/>
                </a:prstGeom>
                <a:solidFill>
                  <a:srgbClr val="0A988B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pic>
              <p:nvPicPr>
                <p:cNvPr id="31" name="Picture 30" descr="A white outline of a shield&#10;&#10;AI-generated content may be incorrect.">
                  <a:extLst>
                    <a:ext uri="{FF2B5EF4-FFF2-40B4-BE49-F238E27FC236}">
                      <a16:creationId xmlns:a16="http://schemas.microsoft.com/office/drawing/2014/main" id="{E042CBCD-E284-8F49-6A01-0BB4279F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45980" y="1590623"/>
                  <a:ext cx="532667" cy="611829"/>
                </a:xfrm>
                <a:prstGeom prst="rect">
                  <a:avLst/>
                </a:prstGeom>
              </p:spPr>
            </p:pic>
          </p:grp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4479641-D50D-339F-B80E-01078A674064}"/>
                  </a:ext>
                </a:extLst>
              </p:cNvPr>
              <p:cNvSpPr/>
              <p:nvPr/>
            </p:nvSpPr>
            <p:spPr>
              <a:xfrm>
                <a:off x="4191225" y="1499887"/>
                <a:ext cx="62961" cy="3938888"/>
              </a:xfrm>
              <a:prstGeom prst="roundRect">
                <a:avLst/>
              </a:prstGeom>
              <a:solidFill>
                <a:srgbClr val="0A988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722C4AA-94CC-5DE5-67A6-6710329AF379}"/>
                </a:ext>
              </a:extLst>
            </p:cNvPr>
            <p:cNvGrpSpPr/>
            <p:nvPr/>
          </p:nvGrpSpPr>
          <p:grpSpPr>
            <a:xfrm>
              <a:off x="8106000" y="1499886"/>
              <a:ext cx="3735837" cy="3938889"/>
              <a:chOff x="8106000" y="1499886"/>
              <a:chExt cx="3735837" cy="3938889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A8446EF-A3B4-457B-B5CE-4E62AD986AF9}"/>
                  </a:ext>
                </a:extLst>
              </p:cNvPr>
              <p:cNvGrpSpPr/>
              <p:nvPr/>
            </p:nvGrpSpPr>
            <p:grpSpPr>
              <a:xfrm>
                <a:off x="8153757" y="1499886"/>
                <a:ext cx="3688080" cy="3938888"/>
                <a:chOff x="8153757" y="1499886"/>
                <a:chExt cx="3688080" cy="3938888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F7793F68-B54D-A4F1-7141-E95E3A2EF557}"/>
                    </a:ext>
                  </a:extLst>
                </p:cNvPr>
                <p:cNvSpPr/>
                <p:nvPr/>
              </p:nvSpPr>
              <p:spPr>
                <a:xfrm>
                  <a:off x="8153757" y="1499886"/>
                  <a:ext cx="3688080" cy="3938888"/>
                </a:xfrm>
                <a:prstGeom prst="rect">
                  <a:avLst/>
                </a:prstGeom>
                <a:solidFill>
                  <a:srgbClr val="1C364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endParaRPr lang="en-US" sz="2000" b="1" dirty="0">
                    <a:solidFill>
                      <a:srgbClr val="CAD6DE"/>
                    </a:solidFill>
                  </a:endParaRPr>
                </a:p>
                <a:p>
                  <a:endParaRPr lang="en-US" sz="2000" b="1" dirty="0">
                    <a:solidFill>
                      <a:srgbClr val="CAD6DE"/>
                    </a:solidFill>
                  </a:endParaRPr>
                </a:p>
                <a:p>
                  <a:endParaRPr lang="en-US" sz="2000" b="1" dirty="0">
                    <a:solidFill>
                      <a:srgbClr val="CAD6DE"/>
                    </a:solidFill>
                  </a:endParaRPr>
                </a:p>
                <a:p>
                  <a:r>
                    <a:rPr lang="en-US" sz="2000" b="1" dirty="0">
                      <a:solidFill>
                        <a:srgbClr val="CAD6DE"/>
                      </a:solidFill>
                      <a:latin typeface="Arial Rounded MT Bold" panose="020F0704030504030204" pitchFamily="34" charset="0"/>
                    </a:rPr>
                    <a:t>Overcoming Challenges</a:t>
                  </a:r>
                </a:p>
                <a:p>
                  <a:endParaRPr lang="en-US" sz="1100" b="1" dirty="0">
                    <a:solidFill>
                      <a:srgbClr val="CAD6DE"/>
                    </a:solidFill>
                    <a:latin typeface="Arial Rounded MT Bold" panose="020F0704030504030204" pitchFamily="34" charset="0"/>
                  </a:endParaRPr>
                </a:p>
                <a:p>
                  <a:r>
                    <a:rPr lang="en-US" sz="2000" dirty="0">
                      <a:solidFill>
                        <a:srgbClr val="CAD6DE"/>
                      </a:solidFill>
                      <a:latin typeface="Arial Rounded MT Bold" panose="020F0704030504030204" pitchFamily="34" charset="0"/>
                    </a:rPr>
                    <a:t>Proactive engagement with KMRL stakeholders for requirements gathering. Pilot phase to refine algorithms with real-world data, ensuring high accuracy and operational efficiency before full rollout.</a:t>
                  </a:r>
                </a:p>
                <a:p>
                  <a:pPr algn="ctr"/>
                  <a:endParaRPr lang="en-IN" dirty="0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4181A4DA-119D-165E-C66F-3113EFF73AA8}"/>
                    </a:ext>
                  </a:extLst>
                </p:cNvPr>
                <p:cNvSpPr/>
                <p:nvPr/>
              </p:nvSpPr>
              <p:spPr>
                <a:xfrm>
                  <a:off x="8372804" y="1571516"/>
                  <a:ext cx="669216" cy="630936"/>
                </a:xfrm>
                <a:prstGeom prst="ellipse">
                  <a:avLst/>
                </a:prstGeom>
                <a:solidFill>
                  <a:srgbClr val="0A988B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pic>
              <p:nvPicPr>
                <p:cNvPr id="33" name="Picture 32" descr="A white outline of a puzzle piece and a compass&#10;&#10;AI-generated content may be incorrect.">
                  <a:extLst>
                    <a:ext uri="{FF2B5EF4-FFF2-40B4-BE49-F238E27FC236}">
                      <a16:creationId xmlns:a16="http://schemas.microsoft.com/office/drawing/2014/main" id="{DAF3C485-7018-3E2B-8CC7-9B97E48047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42674" y="1590623"/>
                  <a:ext cx="529476" cy="529476"/>
                </a:xfrm>
                <a:prstGeom prst="rect">
                  <a:avLst/>
                </a:prstGeom>
              </p:spPr>
            </p:pic>
          </p:grp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431C5FF-2372-32B0-E650-E8E2265580C4}"/>
                  </a:ext>
                </a:extLst>
              </p:cNvPr>
              <p:cNvSpPr/>
              <p:nvPr/>
            </p:nvSpPr>
            <p:spPr>
              <a:xfrm>
                <a:off x="8106000" y="1499887"/>
                <a:ext cx="62961" cy="3938888"/>
              </a:xfrm>
              <a:prstGeom prst="roundRect">
                <a:avLst/>
              </a:prstGeom>
              <a:solidFill>
                <a:srgbClr val="0A988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FB22299-7A82-A3DA-FAB9-44E5CA13E5CF}"/>
              </a:ext>
            </a:extLst>
          </p:cNvPr>
          <p:cNvGrpSpPr/>
          <p:nvPr/>
        </p:nvGrpSpPr>
        <p:grpSpPr>
          <a:xfrm>
            <a:off x="329773" y="1445389"/>
            <a:ext cx="11679843" cy="3794760"/>
            <a:chOff x="329773" y="2195197"/>
            <a:chExt cx="11679843" cy="37947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030A49-EBFA-253E-409F-A8B38A49A7C0}"/>
                </a:ext>
              </a:extLst>
            </p:cNvPr>
            <p:cNvGrpSpPr/>
            <p:nvPr/>
          </p:nvGrpSpPr>
          <p:grpSpPr>
            <a:xfrm>
              <a:off x="329773" y="2195197"/>
              <a:ext cx="3830747" cy="3794760"/>
              <a:chOff x="960120" y="2195197"/>
              <a:chExt cx="4911023" cy="379476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53B878-3C1B-75BE-4938-688B45ECAF40}"/>
                  </a:ext>
                </a:extLst>
              </p:cNvPr>
              <p:cNvSpPr/>
              <p:nvPr/>
            </p:nvSpPr>
            <p:spPr>
              <a:xfrm>
                <a:off x="1060705" y="2195197"/>
                <a:ext cx="4810438" cy="3794760"/>
              </a:xfrm>
              <a:prstGeom prst="rect">
                <a:avLst/>
              </a:prstGeom>
              <a:solidFill>
                <a:srgbClr val="1C3645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r>
                  <a:rPr lang="en-US" sz="2400" dirty="0">
                    <a:solidFill>
                      <a:srgbClr val="0A988B"/>
                    </a:solidFill>
                  </a:rPr>
                  <a:t> Reduction in Operational </a:t>
                </a:r>
              </a:p>
              <a:p>
                <a:r>
                  <a:rPr lang="en-US" sz="2400" dirty="0">
                    <a:solidFill>
                      <a:srgbClr val="0A988B"/>
                    </a:solidFill>
                  </a:rPr>
                  <a:t> Costs: </a:t>
                </a:r>
                <a:r>
                  <a:rPr lang="en-US" sz="2400" dirty="0">
                    <a:solidFill>
                      <a:srgbClr val="CAD6DE"/>
                    </a:solidFill>
                  </a:rPr>
                  <a:t>Through optimized </a:t>
                </a:r>
              </a:p>
              <a:p>
                <a:r>
                  <a:rPr lang="en-US" sz="2400" dirty="0">
                    <a:solidFill>
                      <a:srgbClr val="CAD6DE"/>
                    </a:solidFill>
                  </a:rPr>
                  <a:t> train scheduling and </a:t>
                </a:r>
              </a:p>
              <a:p>
                <a:r>
                  <a:rPr lang="en-US" sz="2400" dirty="0">
                    <a:solidFill>
                      <a:srgbClr val="CAD6DE"/>
                    </a:solidFill>
                  </a:rPr>
                  <a:t> reduced idle time.</a:t>
                </a:r>
              </a:p>
              <a:p>
                <a:pPr algn="ctr"/>
                <a:endParaRPr lang="en-IN" dirty="0"/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FA49AB4F-DF43-AA8E-5D64-0AA6BB966A6A}"/>
                  </a:ext>
                </a:extLst>
              </p:cNvPr>
              <p:cNvSpPr/>
              <p:nvPr/>
            </p:nvSpPr>
            <p:spPr>
              <a:xfrm>
                <a:off x="960120" y="2195197"/>
                <a:ext cx="100584" cy="3794760"/>
              </a:xfrm>
              <a:prstGeom prst="roundRect">
                <a:avLst/>
              </a:prstGeom>
              <a:solidFill>
                <a:srgbClr val="0A988B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B269B2E-62F3-68BE-14F2-D1CDA58FE6D4}"/>
                </a:ext>
              </a:extLst>
            </p:cNvPr>
            <p:cNvGrpSpPr/>
            <p:nvPr/>
          </p:nvGrpSpPr>
          <p:grpSpPr>
            <a:xfrm>
              <a:off x="4376754" y="2195197"/>
              <a:ext cx="3737196" cy="3794760"/>
              <a:chOff x="960120" y="2195197"/>
              <a:chExt cx="4700016" cy="379476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7B7CAA-F093-1FE7-DE3E-F3BC4D6C38B9}"/>
                  </a:ext>
                </a:extLst>
              </p:cNvPr>
              <p:cNvSpPr/>
              <p:nvPr/>
            </p:nvSpPr>
            <p:spPr>
              <a:xfrm>
                <a:off x="1060704" y="2195197"/>
                <a:ext cx="4599432" cy="3794760"/>
              </a:xfrm>
              <a:prstGeom prst="rect">
                <a:avLst/>
              </a:prstGeom>
              <a:solidFill>
                <a:srgbClr val="1C3645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r>
                  <a:rPr lang="en-US" sz="2400" dirty="0">
                    <a:solidFill>
                      <a:srgbClr val="0A988B"/>
                    </a:solidFill>
                  </a:rPr>
                  <a:t>  Ensuring 99.5% </a:t>
                </a:r>
              </a:p>
              <a:p>
                <a:r>
                  <a:rPr lang="en-US" sz="2400" dirty="0">
                    <a:solidFill>
                      <a:srgbClr val="0A988B"/>
                    </a:solidFill>
                  </a:rPr>
                  <a:t>  Punctuality: </a:t>
                </a:r>
                <a:r>
                  <a:rPr lang="en-US" sz="2400" dirty="0">
                    <a:solidFill>
                      <a:srgbClr val="CAD6DE"/>
                    </a:solidFill>
                  </a:rPr>
                  <a:t>AI-driven </a:t>
                </a:r>
              </a:p>
              <a:p>
                <a:r>
                  <a:rPr lang="en-US" sz="2400" dirty="0">
                    <a:solidFill>
                      <a:srgbClr val="CAD6DE"/>
                    </a:solidFill>
                  </a:rPr>
                  <a:t>  scheduling minimizes </a:t>
                </a:r>
              </a:p>
              <a:p>
                <a:r>
                  <a:rPr lang="en-US" sz="2400" dirty="0">
                    <a:solidFill>
                      <a:srgbClr val="CAD6DE"/>
                    </a:solidFill>
                  </a:rPr>
                  <a:t>  delays and improves   </a:t>
                </a:r>
              </a:p>
              <a:p>
                <a:r>
                  <a:rPr lang="en-US" sz="2400" dirty="0">
                    <a:solidFill>
                      <a:srgbClr val="CAD6DE"/>
                    </a:solidFill>
                  </a:rPr>
                  <a:t>  adherence to timelines.</a:t>
                </a:r>
              </a:p>
              <a:p>
                <a:pPr algn="ctr"/>
                <a:endParaRPr lang="en-IN" dirty="0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F3911D2-D05D-128D-0C35-705177815E1E}"/>
                  </a:ext>
                </a:extLst>
              </p:cNvPr>
              <p:cNvSpPr/>
              <p:nvPr/>
            </p:nvSpPr>
            <p:spPr>
              <a:xfrm>
                <a:off x="960120" y="2195197"/>
                <a:ext cx="100584" cy="3794760"/>
              </a:xfrm>
              <a:prstGeom prst="roundRect">
                <a:avLst/>
              </a:prstGeom>
              <a:solidFill>
                <a:srgbClr val="0A988B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B355F2E-910F-9C6F-D9E8-D8E86A7D3CFD}"/>
                </a:ext>
              </a:extLst>
            </p:cNvPr>
            <p:cNvGrpSpPr/>
            <p:nvPr/>
          </p:nvGrpSpPr>
          <p:grpSpPr>
            <a:xfrm>
              <a:off x="8494776" y="2195197"/>
              <a:ext cx="3514840" cy="3794760"/>
              <a:chOff x="960120" y="2195197"/>
              <a:chExt cx="4700016" cy="379476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CEB4ECE-CB7A-9A69-F1B4-239934D241B8}"/>
                  </a:ext>
                </a:extLst>
              </p:cNvPr>
              <p:cNvSpPr/>
              <p:nvPr/>
            </p:nvSpPr>
            <p:spPr>
              <a:xfrm>
                <a:off x="1060704" y="2195197"/>
                <a:ext cx="4599432" cy="3794760"/>
              </a:xfrm>
              <a:prstGeom prst="rect">
                <a:avLst/>
              </a:prstGeom>
              <a:solidFill>
                <a:srgbClr val="1C3645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pPr algn="ctr"/>
                <a:endParaRPr lang="en-US" sz="2400" dirty="0">
                  <a:solidFill>
                    <a:srgbClr val="0A988B"/>
                  </a:solidFill>
                </a:endParaRPr>
              </a:p>
              <a:p>
                <a:r>
                  <a:rPr lang="en-US" sz="2400" dirty="0">
                    <a:solidFill>
                      <a:srgbClr val="0A988B"/>
                    </a:solidFill>
                  </a:rPr>
                  <a:t>  </a:t>
                </a:r>
              </a:p>
              <a:p>
                <a:r>
                  <a:rPr lang="en-US" sz="2400" dirty="0">
                    <a:solidFill>
                      <a:srgbClr val="0A988B"/>
                    </a:solidFill>
                  </a:rPr>
                  <a:t>  Increase in Fleet </a:t>
                </a:r>
              </a:p>
              <a:p>
                <a:r>
                  <a:rPr lang="en-US" sz="2400" dirty="0">
                    <a:solidFill>
                      <a:srgbClr val="0A988B"/>
                    </a:solidFill>
                  </a:rPr>
                  <a:t>  Availability: </a:t>
                </a:r>
                <a:r>
                  <a:rPr lang="en-US" sz="2400" dirty="0">
                    <a:solidFill>
                      <a:srgbClr val="CAD6DE"/>
                    </a:solidFill>
                  </a:rPr>
                  <a:t>Optimal  </a:t>
                </a:r>
              </a:p>
              <a:p>
                <a:r>
                  <a:rPr lang="en-US" sz="2400" dirty="0">
                    <a:solidFill>
                      <a:srgbClr val="CAD6DE"/>
                    </a:solidFill>
                  </a:rPr>
                  <a:t>  utilization of trains and  </a:t>
                </a:r>
              </a:p>
              <a:p>
                <a:r>
                  <a:rPr lang="en-US" sz="2400" dirty="0">
                    <a:solidFill>
                      <a:srgbClr val="CAD6DE"/>
                    </a:solidFill>
                  </a:rPr>
                  <a:t>  maintenance planning.</a:t>
                </a:r>
              </a:p>
              <a:p>
                <a:pPr algn="ctr"/>
                <a:endParaRPr lang="en-IN" dirty="0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0E1027A7-0D61-0D16-5E19-96CE55512809}"/>
                  </a:ext>
                </a:extLst>
              </p:cNvPr>
              <p:cNvSpPr/>
              <p:nvPr/>
            </p:nvSpPr>
            <p:spPr>
              <a:xfrm>
                <a:off x="960120" y="2195197"/>
                <a:ext cx="100584" cy="3794760"/>
              </a:xfrm>
              <a:prstGeom prst="roundRect">
                <a:avLst/>
              </a:prstGeom>
              <a:solidFill>
                <a:srgbClr val="0A988B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DA57AA-1ED6-61FD-D12B-0844F35F4C7D}"/>
                </a:ext>
              </a:extLst>
            </p:cNvPr>
            <p:cNvSpPr txBox="1"/>
            <p:nvPr/>
          </p:nvSpPr>
          <p:spPr>
            <a:xfrm>
              <a:off x="480603" y="2364164"/>
              <a:ext cx="3512475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7000" dirty="0">
                  <a:solidFill>
                    <a:srgbClr val="CAD6DE"/>
                  </a:solidFill>
                  <a:latin typeface="Arial Rounded MT Bold" panose="020F0704030504030204" pitchFamily="34" charset="0"/>
                </a:rPr>
                <a:t>20–25%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BEF45A-0DCB-572F-88EC-27A82AA8D744}"/>
                </a:ext>
              </a:extLst>
            </p:cNvPr>
            <p:cNvSpPr txBox="1"/>
            <p:nvPr/>
          </p:nvSpPr>
          <p:spPr>
            <a:xfrm>
              <a:off x="4456733" y="2364164"/>
              <a:ext cx="358084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7000" dirty="0">
                  <a:solidFill>
                    <a:srgbClr val="CAD6DE"/>
                  </a:solidFill>
                  <a:latin typeface="Arial Rounded MT Bold" panose="020F0704030504030204" pitchFamily="34" charset="0"/>
                </a:rPr>
                <a:t> 99.5%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0D27FB-FC97-DDA7-7E38-6B24CF7C6B73}"/>
                </a:ext>
              </a:extLst>
            </p:cNvPr>
            <p:cNvSpPr txBox="1"/>
            <p:nvPr/>
          </p:nvSpPr>
          <p:spPr>
            <a:xfrm>
              <a:off x="8580528" y="2364164"/>
              <a:ext cx="3364399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7000" dirty="0">
                  <a:solidFill>
                    <a:srgbClr val="CAD6DE"/>
                  </a:solidFill>
                  <a:latin typeface="Arial Rounded MT Bold" panose="020F0704030504030204" pitchFamily="34" charset="0"/>
                </a:rPr>
                <a:t>10-15%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6C25388-7405-E8DB-18F3-168DBFD0DDC2}"/>
              </a:ext>
            </a:extLst>
          </p:cNvPr>
          <p:cNvSpPr txBox="1"/>
          <p:nvPr/>
        </p:nvSpPr>
        <p:spPr>
          <a:xfrm>
            <a:off x="329773" y="5388643"/>
            <a:ext cx="116151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passenger experience with fewer delays and more reliable service.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 cost savings for Kochi Metro, improving financial sustainability.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Optimized operations lead to reduced energy consumption and lower carbon footprint.</a:t>
            </a:r>
            <a:endParaRPr lang="en-IN" sz="2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14;p2" title="Group 3015079 (1).png">
            <a:extLst>
              <a:ext uri="{FF2B5EF4-FFF2-40B4-BE49-F238E27FC236}">
                <a16:creationId xmlns:a16="http://schemas.microsoft.com/office/drawing/2014/main" id="{C35D895E-A3F1-BB15-2487-5B46191AE98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000" y="219575"/>
            <a:ext cx="2186249" cy="533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dirty="0"/>
          </a:p>
        </p:txBody>
      </p:sp>
      <p:sp>
        <p:nvSpPr>
          <p:cNvPr id="157" name="Google Shape;157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sz="1200" b="1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8" name="Google Shape;158;p6" title="Group 3015079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675"/>
            <a:ext cx="2186249" cy="5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 title="Group 301578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8400" y="168162"/>
            <a:ext cx="1926600" cy="97552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E114D1-2031-C493-4F18-28F1B00DD752}"/>
              </a:ext>
            </a:extLst>
          </p:cNvPr>
          <p:cNvSpPr txBox="1"/>
          <p:nvPr/>
        </p:nvSpPr>
        <p:spPr>
          <a:xfrm>
            <a:off x="476249" y="1064985"/>
            <a:ext cx="1142047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SzPts val="2800"/>
              <a:buFont typeface="Arial" panose="020B0604020202020204" pitchFamily="34" charset="0"/>
              <a:buChar char="•"/>
            </a:pPr>
            <a:r>
              <a:rPr lang="en-US" sz="2500" b="1" u="sng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lang="en-US" sz="2500" b="1" dirty="0"/>
              <a:t>: </a:t>
            </a:r>
            <a:endParaRPr lang="en-US" sz="25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buSzPts val="2800"/>
            </a:pPr>
            <a:r>
              <a:rPr lang="en-US" sz="25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</a:p>
          <a:p>
            <a:pPr algn="just">
              <a:buSzPts val="2800"/>
            </a:pPr>
            <a:r>
              <a:rPr lang="en-US" sz="25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5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2500" i="1" dirty="0">
                <a:hlinkClick r:id="rId5"/>
              </a:rPr>
              <a:t>https://github.com/hydrolox-0/sih2025</a:t>
            </a:r>
            <a:endParaRPr lang="en-US" sz="2500" i="1" dirty="0"/>
          </a:p>
          <a:p>
            <a:pPr lvl="0" algn="just">
              <a:buSzPts val="2800"/>
            </a:pPr>
            <a:endParaRPr lang="en-US" sz="25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>
              <a:buSzPts val="2800"/>
              <a:buFont typeface="Arial" panose="020B0604020202020204" pitchFamily="34" charset="0"/>
              <a:buChar char="•"/>
            </a:pPr>
            <a:r>
              <a:rPr lang="en-US" sz="2500" b="1" u="sng" dirty="0"/>
              <a:t>References</a:t>
            </a:r>
            <a:r>
              <a:rPr lang="en-US" sz="2500" b="1" dirty="0"/>
              <a:t>: </a:t>
            </a:r>
          </a:p>
          <a:p>
            <a:pPr lvl="0" algn="just">
              <a:buSzPts val="2800"/>
            </a:pPr>
            <a:endParaRPr lang="en-US" sz="2500" b="1" dirty="0"/>
          </a:p>
          <a:p>
            <a:pPr lvl="2" algn="just">
              <a:buSzPts val="2800"/>
            </a:pPr>
            <a:r>
              <a:rPr lang="en-US" sz="2500" b="1" dirty="0"/>
              <a:t>    &gt; </a:t>
            </a:r>
            <a:r>
              <a:rPr lang="en-US" sz="2500" i="1" dirty="0">
                <a:hlinkClick r:id="rId6"/>
              </a:rPr>
              <a:t>https://kochimetro.org/</a:t>
            </a:r>
            <a:endParaRPr lang="en-US" sz="2500" i="1" dirty="0"/>
          </a:p>
          <a:p>
            <a:pPr lvl="2" algn="just">
              <a:buSzPts val="2800"/>
            </a:pPr>
            <a:r>
              <a:rPr lang="en-US" sz="2500" i="1" dirty="0"/>
              <a:t>    </a:t>
            </a:r>
            <a:r>
              <a:rPr lang="en-US" sz="2500" b="1" i="1" dirty="0"/>
              <a:t>&gt;</a:t>
            </a:r>
            <a:r>
              <a:rPr lang="en-US" sz="2500" i="1" dirty="0"/>
              <a:t> </a:t>
            </a:r>
            <a:r>
              <a:rPr lang="en-US" sz="2500" i="1" dirty="0">
                <a:hlinkClick r:id="rId7"/>
              </a:rPr>
              <a:t>https://en.wikipedia.org/wiki/Kochi_Metro</a:t>
            </a:r>
            <a:endParaRPr lang="en-US" sz="2500" i="1" dirty="0"/>
          </a:p>
          <a:p>
            <a:pPr lvl="2" algn="just">
              <a:buSzPts val="2800"/>
            </a:pPr>
            <a:r>
              <a:rPr lang="en-US" sz="2500" i="1" dirty="0"/>
              <a:t>    </a:t>
            </a:r>
            <a:r>
              <a:rPr lang="en-US" sz="2500" b="1" dirty="0"/>
              <a:t>&gt;</a:t>
            </a:r>
            <a:r>
              <a:rPr lang="en-US" sz="2500" i="1" dirty="0"/>
              <a:t> </a:t>
            </a:r>
            <a:r>
              <a:rPr lang="en-US" sz="1600" i="1" dirty="0">
                <a:hlinkClick r:id="rId8"/>
              </a:rPr>
              <a:t>https://mohua.gov.in/upload/uploadfiles/files/Report%203%20Operations%20and%20Maintenance%20systems.pdf</a:t>
            </a:r>
            <a:r>
              <a:rPr lang="en-US" sz="1600" i="1" dirty="0"/>
              <a:t>    </a:t>
            </a:r>
          </a:p>
          <a:p>
            <a:pPr lvl="2" algn="just">
              <a:buSzPts val="2800"/>
            </a:pPr>
            <a:r>
              <a:rPr lang="en-US" sz="1600" b="1" dirty="0"/>
              <a:t>      </a:t>
            </a:r>
            <a:r>
              <a:rPr lang="en-US" sz="2500" b="1" dirty="0"/>
              <a:t>                 	  	 	 	 	 	 	 	 	 	 	 	 	 	 	 	</a:t>
            </a:r>
            <a:endParaRPr lang="en-US" sz="2500" i="1" dirty="0"/>
          </a:p>
          <a:p>
            <a:pPr lvl="2" algn="just">
              <a:buSzPts val="2800"/>
            </a:pPr>
            <a:endParaRPr lang="en-US" sz="2500" i="1" dirty="0"/>
          </a:p>
          <a:p>
            <a:pPr marL="342900" lvl="0" indent="-342900" algn="just">
              <a:buSzPts val="2800"/>
              <a:buFont typeface="Arial"/>
              <a:buChar char="•"/>
            </a:pPr>
            <a:endParaRPr lang="en-US" sz="2500" i="1" dirty="0"/>
          </a:p>
          <a:p>
            <a:pPr lvl="3" algn="just">
              <a:buSzPts val="2800"/>
            </a:pPr>
            <a:r>
              <a:rPr lang="en-US" sz="2500" dirty="0"/>
              <a:t> 	</a:t>
            </a:r>
            <a:endParaRPr lang="en-US" sz="2500" b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476</Words>
  <Application>Microsoft Office PowerPoint</Application>
  <PresentationFormat>Widescreen</PresentationFormat>
  <Paragraphs>119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Times New Roman</vt:lpstr>
      <vt:lpstr>Calibri</vt:lpstr>
      <vt:lpstr>Oswald</vt:lpstr>
      <vt:lpstr>Arial</vt:lpstr>
      <vt:lpstr>Garamond</vt:lpstr>
      <vt:lpstr>Arial Rounded MT Bold</vt:lpstr>
      <vt:lpstr>ＭＳ Ｐゴシック</vt:lpstr>
      <vt:lpstr>TradeGothic</vt:lpstr>
      <vt:lpstr>Office Theme</vt:lpstr>
      <vt:lpstr>SMART INDIA HACKATHON  2025</vt:lpstr>
      <vt:lpstr>PowerPoint Presentation</vt:lpstr>
      <vt:lpstr> (PROPOSED SOLUTION)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Gaurav .</cp:lastModifiedBy>
  <cp:revision>4</cp:revision>
  <dcterms:created xsi:type="dcterms:W3CDTF">2013-12-12T18:46:50Z</dcterms:created>
  <dcterms:modified xsi:type="dcterms:W3CDTF">2025-09-08T12:00:39Z</dcterms:modified>
</cp:coreProperties>
</file>